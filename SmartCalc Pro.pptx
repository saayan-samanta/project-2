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63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181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69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272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29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323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34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70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78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20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202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259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https://customtkinter.tomschimansky.com/?utm_source=chatgpt.com" TargetMode="External"/><Relationship Id="rId7" Type="http://schemas.openxmlformats.org/officeDocument/2006/relationships/hyperlink" Target="https://www.geeksforgeeks.org/python-programming-language-tutorial/?utm_source=chatgpt.com" TargetMode="External"/><Relationship Id="rId2" Type="http://schemas.openxmlformats.org/officeDocument/2006/relationships/hyperlink" Target="https://docs.python.org/3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python/?utm_source=chatgpt.com" TargetMode="External"/><Relationship Id="rId5" Type="http://schemas.openxmlformats.org/officeDocument/2006/relationships/hyperlink" Target="https://www.exchangerate-api.com/" TargetMode="External"/><Relationship Id="rId4" Type="http://schemas.openxmlformats.org/officeDocument/2006/relationships/hyperlink" Target="https://docs.sympy.org/?utm_source=chatgpt.com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7B1945-0A88-7992-1E61-3E89F023E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IN" b="1" dirty="0" err="1">
                <a:solidFill>
                  <a:srgbClr val="002060"/>
                </a:solidFill>
              </a:rPr>
              <a:t>SmartCalc</a:t>
            </a:r>
            <a:r>
              <a:rPr lang="en-IN" b="1" dirty="0">
                <a:solidFill>
                  <a:srgbClr val="002060"/>
                </a:solidFill>
              </a:rPr>
              <a:t> Pro</a:t>
            </a:r>
            <a:br>
              <a:rPr lang="en-IN" b="1" dirty="0"/>
            </a:br>
            <a:r>
              <a:rPr lang="en-IN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Multi-Purpose Calculator Application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7E009-443F-D4DB-4DC2-E0A2E72AE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7639" y="2701104"/>
            <a:ext cx="3774261" cy="1005657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Developd</a:t>
            </a:r>
            <a:r>
              <a:rPr lang="en-US" dirty="0"/>
              <a:t> By:</a:t>
            </a:r>
            <a:endParaRPr lang="en-IN" dirty="0"/>
          </a:p>
          <a:p>
            <a:pPr algn="r"/>
            <a:r>
              <a:rPr lang="en-US" dirty="0"/>
              <a:t>SAAYAN SAMANTA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8668BC1-3BEA-F266-4B86-C744E651FD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667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Best Website Development Company in ...">
            <a:extLst>
              <a:ext uri="{FF2B5EF4-FFF2-40B4-BE49-F238E27FC236}">
                <a16:creationId xmlns:a16="http://schemas.microsoft.com/office/drawing/2014/main" id="{FD9315B4-7388-F00C-E9FB-311F9951D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407397"/>
            <a:ext cx="3314700" cy="1381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97594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AC9F22-6AE1-55A2-8A4E-57C98634A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en-US" sz="3600"/>
              <a:t>About SmartCalc PRo</a:t>
            </a:r>
            <a:endParaRPr lang="en-IN" sz="36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6A241-B097-DE63-3ECC-91820941B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40" y="2387600"/>
            <a:ext cx="4558786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err="1"/>
              <a:t>SmartCalc</a:t>
            </a:r>
            <a:r>
              <a:rPr lang="en-IN" dirty="0"/>
              <a:t> Pro is an all-in-one calculator application designed to provide multiple calculation utilities within a single platform.</a:t>
            </a:r>
          </a:p>
          <a:p>
            <a:pPr marL="0" indent="0">
              <a:buNone/>
            </a:pPr>
            <a:r>
              <a:rPr lang="en-IN" dirty="0"/>
              <a:t>The application combines </a:t>
            </a:r>
            <a:r>
              <a:rPr lang="en-IN" b="1" dirty="0"/>
              <a:t>scientific, financial, statistical, health, equation-solving, currency conversion, and unit conversion</a:t>
            </a:r>
            <a:r>
              <a:rPr lang="en-IN" dirty="0"/>
              <a:t> functionalities in an intuitive graphical interface.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0B84D-B2A8-5CCC-3B91-45E7715388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80" t="-2942" r="-4120" b="2942"/>
          <a:stretch>
            <a:fillRect/>
          </a:stretch>
        </p:blipFill>
        <p:spPr>
          <a:xfrm>
            <a:off x="4981574" y="735286"/>
            <a:ext cx="7377574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451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58CB5-75B4-E366-E1D2-2ED3A4389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Key Functionalities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A58BF3-B48C-621C-4564-3CF03365DA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9815412"/>
              </p:ext>
            </p:extLst>
          </p:nvPr>
        </p:nvGraphicFramePr>
        <p:xfrm>
          <a:off x="4038600" y="885931"/>
          <a:ext cx="7353300" cy="50861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21931">
                  <a:extLst>
                    <a:ext uri="{9D8B030D-6E8A-4147-A177-3AD203B41FA5}">
                      <a16:colId xmlns:a16="http://schemas.microsoft.com/office/drawing/2014/main" val="3436880254"/>
                    </a:ext>
                  </a:extLst>
                </a:gridCol>
                <a:gridCol w="4131369">
                  <a:extLst>
                    <a:ext uri="{9D8B030D-6E8A-4147-A177-3AD203B41FA5}">
                      <a16:colId xmlns:a16="http://schemas.microsoft.com/office/drawing/2014/main" val="4175995493"/>
                    </a:ext>
                  </a:extLst>
                </a:gridCol>
              </a:tblGrid>
              <a:tr h="635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 dirty="0">
                          <a:solidFill>
                            <a:schemeClr val="bg1"/>
                          </a:solidFill>
                        </a:rPr>
                        <a:t>Traditional Calculator</a:t>
                      </a:r>
                    </a:p>
                  </a:txBody>
                  <a:tcPr marL="174612" marR="134317" marT="134317" marB="1343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 dirty="0" err="1">
                          <a:solidFill>
                            <a:schemeClr val="bg1"/>
                          </a:solidFill>
                        </a:rPr>
                        <a:t>SmartCalc</a:t>
                      </a:r>
                      <a:r>
                        <a:rPr lang="en-IN" sz="2100" cap="none" spc="0" dirty="0">
                          <a:solidFill>
                            <a:schemeClr val="bg1"/>
                          </a:solidFill>
                        </a:rPr>
                        <a:t> Pro</a:t>
                      </a:r>
                    </a:p>
                  </a:txBody>
                  <a:tcPr marL="174612" marR="134317" marT="134317" marB="134317" anchor="ctr"/>
                </a:tc>
                <a:extLst>
                  <a:ext uri="{0D108BD9-81ED-4DB2-BD59-A6C34878D82A}">
                    <a16:rowId xmlns:a16="http://schemas.microsoft.com/office/drawing/2014/main" val="1928927727"/>
                  </a:ext>
                </a:extLst>
              </a:tr>
              <a:tr h="635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Basic Calculations Only</a:t>
                      </a:r>
                    </a:p>
                  </a:txBody>
                  <a:tcPr marL="174612" marR="134317" marT="134317" marB="1343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Multiple Calculators in One App</a:t>
                      </a:r>
                    </a:p>
                  </a:txBody>
                  <a:tcPr marL="174612" marR="134317" marT="134317" marB="134317" anchor="ctr"/>
                </a:tc>
                <a:extLst>
                  <a:ext uri="{0D108BD9-81ED-4DB2-BD59-A6C34878D82A}">
                    <a16:rowId xmlns:a16="http://schemas.microsoft.com/office/drawing/2014/main" val="4152215041"/>
                  </a:ext>
                </a:extLst>
              </a:tr>
              <a:tr h="635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No Equation Solving</a:t>
                      </a:r>
                    </a:p>
                  </a:txBody>
                  <a:tcPr marL="174612" marR="134317" marT="134317" marB="1343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Advanced Equation Solver</a:t>
                      </a:r>
                    </a:p>
                  </a:txBody>
                  <a:tcPr marL="174612" marR="134317" marT="134317" marB="134317" anchor="ctr"/>
                </a:tc>
                <a:extLst>
                  <a:ext uri="{0D108BD9-81ED-4DB2-BD59-A6C34878D82A}">
                    <a16:rowId xmlns:a16="http://schemas.microsoft.com/office/drawing/2014/main" val="1690603187"/>
                  </a:ext>
                </a:extLst>
              </a:tr>
              <a:tr h="635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No Statistics</a:t>
                      </a:r>
                    </a:p>
                  </a:txBody>
                  <a:tcPr marL="174612" marR="134317" marT="134317" marB="1343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Complete Statistical Analysis</a:t>
                      </a:r>
                    </a:p>
                  </a:txBody>
                  <a:tcPr marL="174612" marR="134317" marT="134317" marB="134317" anchor="ctr"/>
                </a:tc>
                <a:extLst>
                  <a:ext uri="{0D108BD9-81ED-4DB2-BD59-A6C34878D82A}">
                    <a16:rowId xmlns:a16="http://schemas.microsoft.com/office/drawing/2014/main" val="1931573326"/>
                  </a:ext>
                </a:extLst>
              </a:tr>
              <a:tr h="635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No Finance Tools</a:t>
                      </a:r>
                    </a:p>
                  </a:txBody>
                  <a:tcPr marL="174612" marR="134317" marT="134317" marB="1343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EMI Calculator</a:t>
                      </a:r>
                    </a:p>
                  </a:txBody>
                  <a:tcPr marL="174612" marR="134317" marT="134317" marB="134317" anchor="ctr"/>
                </a:tc>
                <a:extLst>
                  <a:ext uri="{0D108BD9-81ED-4DB2-BD59-A6C34878D82A}">
                    <a16:rowId xmlns:a16="http://schemas.microsoft.com/office/drawing/2014/main" val="365428060"/>
                  </a:ext>
                </a:extLst>
              </a:tr>
              <a:tr h="635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No Health Tools</a:t>
                      </a:r>
                    </a:p>
                  </a:txBody>
                  <a:tcPr marL="174612" marR="134317" marT="134317" marB="1343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BMI Calculator</a:t>
                      </a:r>
                    </a:p>
                  </a:txBody>
                  <a:tcPr marL="174612" marR="134317" marT="134317" marB="134317" anchor="ctr"/>
                </a:tc>
                <a:extLst>
                  <a:ext uri="{0D108BD9-81ED-4DB2-BD59-A6C34878D82A}">
                    <a16:rowId xmlns:a16="http://schemas.microsoft.com/office/drawing/2014/main" val="2559335364"/>
                  </a:ext>
                </a:extLst>
              </a:tr>
              <a:tr h="635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Limited Conversions</a:t>
                      </a:r>
                    </a:p>
                  </a:txBody>
                  <a:tcPr marL="174612" marR="134317" marT="134317" marB="1343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>
                          <a:solidFill>
                            <a:schemeClr val="tx1"/>
                          </a:solidFill>
                        </a:rPr>
                        <a:t>Unit &amp; Currency Conversion</a:t>
                      </a:r>
                    </a:p>
                  </a:txBody>
                  <a:tcPr marL="174612" marR="134317" marT="134317" marB="134317" anchor="ctr"/>
                </a:tc>
                <a:extLst>
                  <a:ext uri="{0D108BD9-81ED-4DB2-BD59-A6C34878D82A}">
                    <a16:rowId xmlns:a16="http://schemas.microsoft.com/office/drawing/2014/main" val="1750366406"/>
                  </a:ext>
                </a:extLst>
              </a:tr>
              <a:tr h="635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 dirty="0">
                          <a:solidFill>
                            <a:schemeClr val="tx1"/>
                          </a:solidFill>
                        </a:rPr>
                        <a:t>Basic UI</a:t>
                      </a:r>
                    </a:p>
                  </a:txBody>
                  <a:tcPr marL="174612" marR="134317" marT="134317" marB="13431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cap="none" spc="0" dirty="0">
                          <a:solidFill>
                            <a:schemeClr val="tx1"/>
                          </a:solidFill>
                        </a:rPr>
                        <a:t>Modern CustomTkinter UI</a:t>
                      </a:r>
                    </a:p>
                  </a:txBody>
                  <a:tcPr marL="174612" marR="134317" marT="134317" marB="134317" anchor="ctr"/>
                </a:tc>
                <a:extLst>
                  <a:ext uri="{0D108BD9-81ED-4DB2-BD59-A6C34878D82A}">
                    <a16:rowId xmlns:a16="http://schemas.microsoft.com/office/drawing/2014/main" val="90967280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B233EE5-9121-9725-C7AC-9374965D9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482552"/>
              </p:ext>
            </p:extLst>
          </p:nvPr>
        </p:nvGraphicFramePr>
        <p:xfrm>
          <a:off x="129816" y="2399896"/>
          <a:ext cx="3908784" cy="3078480"/>
        </p:xfrm>
        <a:graphic>
          <a:graphicData uri="http://schemas.openxmlformats.org/drawingml/2006/table">
            <a:tbl>
              <a:tblPr/>
              <a:tblGrid>
                <a:gridCol w="1954392">
                  <a:extLst>
                    <a:ext uri="{9D8B030D-6E8A-4147-A177-3AD203B41FA5}">
                      <a16:colId xmlns:a16="http://schemas.microsoft.com/office/drawing/2014/main" val="851751980"/>
                    </a:ext>
                  </a:extLst>
                </a:gridCol>
                <a:gridCol w="1954392">
                  <a:extLst>
                    <a:ext uri="{9D8B030D-6E8A-4147-A177-3AD203B41FA5}">
                      <a16:colId xmlns:a16="http://schemas.microsoft.com/office/drawing/2014/main" val="29922286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C00000"/>
                          </a:solidFill>
                        </a:rPr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rgbClr val="C00000"/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957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Core Programming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3758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CustomTkinter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Modern GUI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003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SymPy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Equation Solving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629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Statistics 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Statistical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854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Requests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Currency Exchange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536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Math 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Scientific Calculations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740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API Data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552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366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46EA5-A5B8-C525-6C9C-780E3B70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37419"/>
          </a:xfrm>
        </p:spPr>
        <p:txBody>
          <a:bodyPr/>
          <a:lstStyle/>
          <a:p>
            <a:r>
              <a:rPr lang="en-US" dirty="0"/>
              <a:t>Challenges Faced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79F8-EB52-06D1-5D4C-EDAF859C1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51819"/>
            <a:ext cx="11284887" cy="45031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Problem:</a:t>
            </a:r>
            <a:br>
              <a:rPr lang="en-IN" dirty="0"/>
            </a:br>
            <a:r>
              <a:rPr lang="en-IN" dirty="0">
                <a:solidFill>
                  <a:srgbClr val="FF0000"/>
                </a:solidFill>
              </a:rPr>
              <a:t>     Different calculators required different layouts.</a:t>
            </a:r>
          </a:p>
          <a:p>
            <a:pPr marL="0" indent="0">
              <a:buNone/>
            </a:pPr>
            <a:r>
              <a:rPr lang="en-IN" b="1" dirty="0"/>
              <a:t>Solution:</a:t>
            </a:r>
            <a:br>
              <a:rPr lang="en-IN" dirty="0"/>
            </a:br>
            <a:r>
              <a:rPr lang="en-IN" dirty="0"/>
              <a:t>     Created independent CustomTkinter Frames for each tab.</a:t>
            </a:r>
          </a:p>
          <a:p>
            <a:pPr marL="0" indent="0">
              <a:buNone/>
            </a:pPr>
            <a:r>
              <a:rPr lang="en-IN" b="1" dirty="0"/>
              <a:t>Problem:</a:t>
            </a:r>
            <a:br>
              <a:rPr lang="en-IN" dirty="0"/>
            </a:br>
            <a:r>
              <a:rPr lang="en-IN" dirty="0">
                <a:solidFill>
                  <a:srgbClr val="FF0000"/>
                </a:solidFill>
              </a:rPr>
              <a:t>      Handling user input and data validation.</a:t>
            </a:r>
          </a:p>
          <a:p>
            <a:pPr marL="0" indent="0">
              <a:buNone/>
            </a:pPr>
            <a:r>
              <a:rPr lang="en-IN" b="1" dirty="0"/>
              <a:t>Solution:</a:t>
            </a:r>
            <a:br>
              <a:rPr lang="en-IN" dirty="0"/>
            </a:br>
            <a:r>
              <a:rPr lang="en-IN" dirty="0"/>
              <a:t>       Implemented exception handling and dynamic data storage.</a:t>
            </a:r>
          </a:p>
          <a:p>
            <a:pPr marL="0" indent="0">
              <a:buNone/>
            </a:pPr>
            <a:r>
              <a:rPr lang="en-IN" b="1" dirty="0"/>
              <a:t>Problem:</a:t>
            </a:r>
            <a:br>
              <a:rPr lang="en-IN" dirty="0"/>
            </a:br>
            <a:r>
              <a:rPr lang="en-IN" dirty="0">
                <a:solidFill>
                  <a:srgbClr val="FF0000"/>
                </a:solidFill>
              </a:rPr>
              <a:t>       Need for live exchange rates.</a:t>
            </a:r>
          </a:p>
          <a:p>
            <a:pPr marL="0" indent="0">
              <a:buNone/>
            </a:pPr>
            <a:r>
              <a:rPr lang="en-IN" b="1" dirty="0"/>
              <a:t>Solution:</a:t>
            </a:r>
            <a:br>
              <a:rPr lang="en-IN" dirty="0"/>
            </a:br>
            <a:r>
              <a:rPr lang="en-IN" dirty="0"/>
              <a:t>       Integrated Exchange Rate API and JSON data parsing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F0FF3-C742-8F9C-4523-567071341E99}"/>
              </a:ext>
            </a:extLst>
          </p:cNvPr>
          <p:cNvSpPr txBox="1"/>
          <p:nvPr/>
        </p:nvSpPr>
        <p:spPr>
          <a:xfrm>
            <a:off x="322005" y="1651819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E4ECC0-BFE6-CF01-BBAC-49843F908EEC}"/>
              </a:ext>
            </a:extLst>
          </p:cNvPr>
          <p:cNvSpPr txBox="1"/>
          <p:nvPr/>
        </p:nvSpPr>
        <p:spPr>
          <a:xfrm>
            <a:off x="322005" y="3164742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8235F6-F425-1A62-2F92-8D181A41E5A6}"/>
              </a:ext>
            </a:extLst>
          </p:cNvPr>
          <p:cNvSpPr txBox="1"/>
          <p:nvPr/>
        </p:nvSpPr>
        <p:spPr>
          <a:xfrm>
            <a:off x="322005" y="4652184"/>
            <a:ext cx="37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3)</a:t>
            </a:r>
          </a:p>
        </p:txBody>
      </p:sp>
      <p:pic>
        <p:nvPicPr>
          <p:cNvPr id="9" name="Picture 8" descr="How to face challenges/problems – Be ...">
            <a:extLst>
              <a:ext uri="{FF2B5EF4-FFF2-40B4-BE49-F238E27FC236}">
                <a16:creationId xmlns:a16="http://schemas.microsoft.com/office/drawing/2014/main" id="{B980F420-1785-3568-B0C4-ED85A9499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873" y="2137966"/>
            <a:ext cx="3987122" cy="30682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04111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F3E5D-621F-D086-62E9-2A6F0EB59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17755"/>
          </a:xfrm>
        </p:spPr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2E84A-E57F-41FC-20E6-981318C09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6" y="1632155"/>
            <a:ext cx="11464413" cy="454250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Documentations :</a:t>
            </a:r>
          </a:p>
          <a:p>
            <a:pPr lvl="1"/>
            <a:r>
              <a:rPr lang="en-IN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 Official Documentation</a:t>
            </a:r>
            <a:endParaRPr lang="en-IN" dirty="0">
              <a:solidFill>
                <a:srgbClr val="0070C0"/>
              </a:solidFill>
            </a:endParaRPr>
          </a:p>
          <a:p>
            <a:pPr lvl="1"/>
            <a:r>
              <a:rPr lang="en-IN" dirty="0">
                <a:solidFill>
                  <a:srgbClr val="0070C0"/>
                </a:solidFill>
              </a:rPr>
              <a:t> </a:t>
            </a:r>
            <a:r>
              <a:rPr lang="en-IN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CustomTkinter Documentation</a:t>
            </a:r>
            <a:r>
              <a:rPr lang="en-IN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IN" dirty="0" err="1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SymPy</a:t>
            </a:r>
            <a:r>
              <a:rPr lang="en-IN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Documentation</a:t>
            </a:r>
            <a:endParaRPr lang="en-IN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endParaRPr lang="en-IN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APIs :</a:t>
            </a:r>
          </a:p>
          <a:p>
            <a:pPr lvl="1"/>
            <a:r>
              <a:rPr lang="en-IN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Exchange Rate API</a:t>
            </a:r>
            <a:endParaRPr lang="en-IN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endParaRPr lang="en-IN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Learning Resources :</a:t>
            </a:r>
          </a:p>
          <a:p>
            <a:pPr lvl="1"/>
            <a:r>
              <a:rPr lang="en-IN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W3Schools Python Tutorial</a:t>
            </a:r>
            <a:r>
              <a:rPr lang="en-IN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IN" dirty="0" err="1">
                <a:solidFill>
                  <a:srgbClr val="0070C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GeeksforGeeks</a:t>
            </a:r>
            <a:r>
              <a:rPr lang="en-IN" dirty="0">
                <a:solidFill>
                  <a:srgbClr val="0070C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Python Tutorials</a:t>
            </a:r>
            <a:endParaRPr lang="en-IN" b="1" dirty="0">
              <a:solidFill>
                <a:srgbClr val="0070C0"/>
              </a:solidFill>
            </a:endParaRPr>
          </a:p>
        </p:txBody>
      </p:sp>
      <p:pic>
        <p:nvPicPr>
          <p:cNvPr id="5" name="Picture 4" descr="Reference Images - Free Download on ...">
            <a:extLst>
              <a:ext uri="{FF2B5EF4-FFF2-40B4-BE49-F238E27FC236}">
                <a16:creationId xmlns:a16="http://schemas.microsoft.com/office/drawing/2014/main" id="{0F20DCB9-5DDD-CDB6-B09D-87D7617A12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8103" y="1466849"/>
            <a:ext cx="5843797" cy="39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3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PPT Flat Thank You Slide for Presentation">
            <a:extLst>
              <a:ext uri="{FF2B5EF4-FFF2-40B4-BE49-F238E27FC236}">
                <a16:creationId xmlns:a16="http://schemas.microsoft.com/office/drawing/2014/main" id="{A076CC5B-D0A8-D06F-6CE2-DF6275989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3" r="-2" b="-2"/>
          <a:stretch>
            <a:fillRect/>
          </a:stretch>
        </p:blipFill>
        <p:spPr bwMode="auto">
          <a:xfrm>
            <a:off x="328486" y="319441"/>
            <a:ext cx="11530584" cy="5932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70940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233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Calisto MT</vt:lpstr>
      <vt:lpstr>Univers Condensed</vt:lpstr>
      <vt:lpstr>Wingdings</vt:lpstr>
      <vt:lpstr>ChronicleVTI</vt:lpstr>
      <vt:lpstr>SmartCalc Pro Multi-Purpose Calculator Application</vt:lpstr>
      <vt:lpstr>About SmartCalc PRo</vt:lpstr>
      <vt:lpstr>Key Functionalities</vt:lpstr>
      <vt:lpstr>Challenges Faced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8151</dc:creator>
  <cp:lastModifiedBy>8151</cp:lastModifiedBy>
  <cp:revision>10</cp:revision>
  <dcterms:created xsi:type="dcterms:W3CDTF">2026-06-23T08:12:09Z</dcterms:created>
  <dcterms:modified xsi:type="dcterms:W3CDTF">2026-06-25T16:35:22Z</dcterms:modified>
</cp:coreProperties>
</file>